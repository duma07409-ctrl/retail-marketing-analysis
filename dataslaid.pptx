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4"/>
  </p:sldMasterIdLst>
  <p:notesMasterIdLst>
    <p:notesMasterId r:id="rId6"/>
  </p:notesMasterIdLst>
  <p:handoutMasterIdLst>
    <p:handoutMasterId r:id="rId7"/>
  </p:handoutMasterIdLst>
  <p:sldIdLst>
    <p:sldId id="338" r:id="rId5"/>
  </p:sldIdLst>
  <p:sldSz cx="12192000" cy="6858000"/>
  <p:notesSz cx="6950075" cy="9236075"/>
  <p:custShowLst>
    <p:custShow name="Format Guide Workshop" id="0">
      <p:sldLst/>
    </p:custShow>
  </p:custShowLst>
  <p:custDataLst>
    <p:tags r:id="rId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0782F0-208F-5F22-BC4E-8938E8BAC7FC}" name="Schupe, Laura" initials="SL" userId="Schupe, Laur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autoAdjust="0"/>
    <p:restoredTop sz="96323" autoAdjust="0"/>
  </p:normalViewPr>
  <p:slideViewPr>
    <p:cSldViewPr snapToGrid="0">
      <p:cViewPr varScale="1">
        <p:scale>
          <a:sx n="90" d="100"/>
          <a:sy n="90" d="100"/>
        </p:scale>
        <p:origin x="235" y="53"/>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image" Target="../media/image1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6/29/2026</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6/29/2026</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ags" Target="../tags/tag4.xml"/><Relationship Id="rId7" Type="http://schemas.openxmlformats.org/officeDocument/2006/relationships/oleObject" Target="../embeddings/oleObject2.bin"/><Relationship Id="rId2" Type="http://schemas.openxmlformats.org/officeDocument/2006/relationships/tags" Target="../tags/tag3.xml"/><Relationship Id="rId1" Type="http://schemas.openxmlformats.org/officeDocument/2006/relationships/vmlDrawing" Target="../drawings/vmlDrawing2.vml"/><Relationship Id="rId6" Type="http://schemas.openxmlformats.org/officeDocument/2006/relationships/slideMaster" Target="../slideMasters/slideMaster1.xml"/><Relationship Id="rId5" Type="http://schemas.openxmlformats.org/officeDocument/2006/relationships/tags" Target="../tags/tag6.xml"/><Relationship Id="rId10" Type="http://schemas.openxmlformats.org/officeDocument/2006/relationships/image" Target="../media/image4.jpg"/><Relationship Id="rId4" Type="http://schemas.openxmlformats.org/officeDocument/2006/relationships/tags" Target="../tags/tag5.xml"/><Relationship Id="rId9"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18.xml"/><Relationship Id="rId7" Type="http://schemas.openxmlformats.org/officeDocument/2006/relationships/image" Target="../media/image8.png"/><Relationship Id="rId2" Type="http://schemas.openxmlformats.org/officeDocument/2006/relationships/tags" Target="../tags/tag17.xml"/><Relationship Id="rId1" Type="http://schemas.openxmlformats.org/officeDocument/2006/relationships/vmlDrawing" Target="../drawings/vmlDrawing3.vml"/><Relationship Id="rId6" Type="http://schemas.openxmlformats.org/officeDocument/2006/relationships/image" Target="../media/image7.emf"/><Relationship Id="rId5" Type="http://schemas.openxmlformats.org/officeDocument/2006/relationships/oleObject" Target="../embeddings/oleObject3.bin"/><Relationship Id="rId4"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6.xml"/><Relationship Id="rId1" Type="http://schemas.openxmlformats.org/officeDocument/2006/relationships/vmlDrawing" Target="../drawings/vmlDrawing4.vml"/><Relationship Id="rId6" Type="http://schemas.openxmlformats.org/officeDocument/2006/relationships/image" Target="../media/image9.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tags" Target="../tags/tag32.xml"/><Relationship Id="rId7" Type="http://schemas.openxmlformats.org/officeDocument/2006/relationships/image" Target="../media/image2.emf"/><Relationship Id="rId2" Type="http://schemas.openxmlformats.org/officeDocument/2006/relationships/tags" Target="../tags/tag31.xml"/><Relationship Id="rId1" Type="http://schemas.openxmlformats.org/officeDocument/2006/relationships/vmlDrawing" Target="../drawings/vmlDrawing5.vml"/><Relationship Id="rId6" Type="http://schemas.openxmlformats.org/officeDocument/2006/relationships/oleObject" Target="../embeddings/oleObject4.bin"/><Relationship Id="rId5" Type="http://schemas.openxmlformats.org/officeDocument/2006/relationships/slideMaster" Target="../slideMasters/slideMaster1.xml"/><Relationship Id="rId4" Type="http://schemas.openxmlformats.org/officeDocument/2006/relationships/tags" Target="../tags/tag33.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ags" Target="../tags/tag36.xml"/><Relationship Id="rId7" Type="http://schemas.openxmlformats.org/officeDocument/2006/relationships/oleObject" Target="../embeddings/oleObject5.bin"/><Relationship Id="rId2" Type="http://schemas.openxmlformats.org/officeDocument/2006/relationships/tags" Target="../tags/tag35.xml"/><Relationship Id="rId1" Type="http://schemas.openxmlformats.org/officeDocument/2006/relationships/vmlDrawing" Target="../drawings/vmlDrawing6.vml"/><Relationship Id="rId6" Type="http://schemas.openxmlformats.org/officeDocument/2006/relationships/slideMaster" Target="../slideMasters/slideMaster1.xml"/><Relationship Id="rId5" Type="http://schemas.openxmlformats.org/officeDocument/2006/relationships/tags" Target="../tags/tag38.xml"/><Relationship Id="rId10" Type="http://schemas.openxmlformats.org/officeDocument/2006/relationships/image" Target="../media/image4.jpg"/><Relationship Id="rId4" Type="http://schemas.openxmlformats.org/officeDocument/2006/relationships/tags" Target="../tags/tag37.xml"/><Relationship Id="rId9"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1.xml.rels><?xml version="1.0" encoding="UTF-8" standalone="yes"?>
<Relationships xmlns="http://schemas.openxmlformats.org/package/2006/relationships"><Relationship Id="rId3" Type="http://schemas.openxmlformats.org/officeDocument/2006/relationships/tags" Target="../tags/tag49.xml"/><Relationship Id="rId7" Type="http://schemas.openxmlformats.org/officeDocument/2006/relationships/image" Target="../media/image5.png"/><Relationship Id="rId2" Type="http://schemas.openxmlformats.org/officeDocument/2006/relationships/tags" Target="../tags/tag48.xml"/><Relationship Id="rId1" Type="http://schemas.openxmlformats.org/officeDocument/2006/relationships/vmlDrawing" Target="../drawings/vmlDrawing7.vml"/><Relationship Id="rId6" Type="http://schemas.openxmlformats.org/officeDocument/2006/relationships/image" Target="../media/image7.emf"/><Relationship Id="rId5" Type="http://schemas.openxmlformats.org/officeDocument/2006/relationships/oleObject" Target="../embeddings/oleObject3.bin"/><Relationship Id="rId4"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6.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7.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8.xml"/></Relationships>
</file>

<file path=ppt/slideLayouts/_rels/slideLayout5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9.xml"/><Relationship Id="rId1" Type="http://schemas.openxmlformats.org/officeDocument/2006/relationships/vmlDrawing" Target="../drawings/vmlDrawing8.vml"/><Relationship Id="rId6" Type="http://schemas.openxmlformats.org/officeDocument/2006/relationships/image" Target="../media/image9.png"/><Relationship Id="rId5" Type="http://schemas.openxmlformats.org/officeDocument/2006/relationships/image" Target="../media/image2.emf"/><Relationship Id="rId4" Type="http://schemas.openxmlformats.org/officeDocument/2006/relationships/oleObject" Target="../embeddings/oleObject3.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0.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61.xml"/></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2.xml"/></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3.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4.xml"/></Relationships>
</file>

<file path=ppt/slideLayouts/_rels/slideLayout57.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tags" Target="../tags/tag66.xml"/><Relationship Id="rId7" Type="http://schemas.openxmlformats.org/officeDocument/2006/relationships/image" Target="../media/image2.emf"/><Relationship Id="rId2" Type="http://schemas.openxmlformats.org/officeDocument/2006/relationships/tags" Target="../tags/tag65.xml"/><Relationship Id="rId1" Type="http://schemas.openxmlformats.org/officeDocument/2006/relationships/vmlDrawing" Target="../drawings/vmlDrawing9.vml"/><Relationship Id="rId6" Type="http://schemas.openxmlformats.org/officeDocument/2006/relationships/oleObject" Target="../embeddings/oleObject6.bin"/><Relationship Id="rId5" Type="http://schemas.openxmlformats.org/officeDocument/2006/relationships/slideMaster" Target="../slideMasters/slideMaster1.xml"/><Relationship Id="rId4" Type="http://schemas.openxmlformats.org/officeDocument/2006/relationships/tags" Target="../tags/tag67.xml"/></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8.xml"/></Relationships>
</file>

<file path=ppt/slideLayouts/_rels/slideLayout59.xml.rels><?xml version="1.0" encoding="UTF-8" standalone="yes"?>
<Relationships xmlns="http://schemas.openxmlformats.org/package/2006/relationships"><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vmlDrawing" Target="../drawings/vmlDrawing10.vml"/><Relationship Id="rId6" Type="http://schemas.openxmlformats.org/officeDocument/2006/relationships/image" Target="../media/image1.emf"/><Relationship Id="rId5" Type="http://schemas.openxmlformats.org/officeDocument/2006/relationships/oleObject" Target="../embeddings/oleObject7.bin"/><Relationship Id="rId4"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1.xml"/><Relationship Id="rId1" Type="http://schemas.openxmlformats.org/officeDocument/2006/relationships/vmlDrawing" Target="../drawings/vmlDrawing11.vml"/><Relationship Id="rId5" Type="http://schemas.openxmlformats.org/officeDocument/2006/relationships/image" Target="../media/image1.emf"/><Relationship Id="rId4" Type="http://schemas.openxmlformats.org/officeDocument/2006/relationships/oleObject" Target="../embeddings/oleObject8.bin"/></Relationships>
</file>

<file path=ppt/slideLayouts/_rels/slideLayout6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2.xml"/><Relationship Id="rId1" Type="http://schemas.openxmlformats.org/officeDocument/2006/relationships/vmlDrawing" Target="../drawings/vmlDrawing12.vml"/><Relationship Id="rId5" Type="http://schemas.openxmlformats.org/officeDocument/2006/relationships/image" Target="../media/image1.emf"/><Relationship Id="rId4" Type="http://schemas.openxmlformats.org/officeDocument/2006/relationships/oleObject" Target="../embeddings/oleObject9.bin"/></Relationships>
</file>

<file path=ppt/slideLayouts/_rels/slideLayout62.xml.rels><?xml version="1.0" encoding="UTF-8" standalone="yes"?>
<Relationships xmlns="http://schemas.openxmlformats.org/package/2006/relationships"><Relationship Id="rId3" Type="http://schemas.openxmlformats.org/officeDocument/2006/relationships/tags" Target="../tags/tag74.xml"/><Relationship Id="rId7" Type="http://schemas.openxmlformats.org/officeDocument/2006/relationships/image" Target="../media/image3.png"/><Relationship Id="rId2" Type="http://schemas.openxmlformats.org/officeDocument/2006/relationships/tags" Target="../tags/tag73.xml"/><Relationship Id="rId1" Type="http://schemas.openxmlformats.org/officeDocument/2006/relationships/vmlDrawing" Target="../drawings/vmlDrawing13.vml"/><Relationship Id="rId6" Type="http://schemas.openxmlformats.org/officeDocument/2006/relationships/image" Target="../media/image1.emf"/><Relationship Id="rId5" Type="http://schemas.openxmlformats.org/officeDocument/2006/relationships/oleObject" Target="../embeddings/oleObject10.bin"/><Relationship Id="rId4"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vmlDrawing" Target="../drawings/vmlDrawing14.vml"/><Relationship Id="rId6" Type="http://schemas.openxmlformats.org/officeDocument/2006/relationships/image" Target="../media/image1.emf"/><Relationship Id="rId5" Type="http://schemas.openxmlformats.org/officeDocument/2006/relationships/oleObject" Target="../embeddings/oleObject11.bin"/><Relationship Id="rId4"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7.xml"/><Relationship Id="rId1" Type="http://schemas.openxmlformats.org/officeDocument/2006/relationships/vmlDrawing" Target="../drawings/vmlDrawing15.vml"/><Relationship Id="rId5" Type="http://schemas.openxmlformats.org/officeDocument/2006/relationships/image" Target="../media/image1.emf"/><Relationship Id="rId4" Type="http://schemas.openxmlformats.org/officeDocument/2006/relationships/oleObject" Target="../embeddings/oleObject12.bin"/></Relationships>
</file>

<file path=ppt/slideLayouts/_rels/slideLayout6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8.xml"/><Relationship Id="rId1" Type="http://schemas.openxmlformats.org/officeDocument/2006/relationships/vmlDrawing" Target="../drawings/vmlDrawing16.vml"/><Relationship Id="rId5" Type="http://schemas.openxmlformats.org/officeDocument/2006/relationships/image" Target="../media/image1.emf"/><Relationship Id="rId4" Type="http://schemas.openxmlformats.org/officeDocument/2006/relationships/oleObject" Target="../embeddings/oleObject13.bin"/></Relationships>
</file>

<file path=ppt/slideLayouts/_rels/slideLayout66.xml.rels><?xml version="1.0" encoding="UTF-8" standalone="yes"?>
<Relationships xmlns="http://schemas.openxmlformats.org/package/2006/relationships"><Relationship Id="rId3" Type="http://schemas.openxmlformats.org/officeDocument/2006/relationships/tags" Target="../tags/tag80.xml"/><Relationship Id="rId7" Type="http://schemas.openxmlformats.org/officeDocument/2006/relationships/image" Target="../media/image3.png"/><Relationship Id="rId2" Type="http://schemas.openxmlformats.org/officeDocument/2006/relationships/tags" Target="../tags/tag79.xml"/><Relationship Id="rId1" Type="http://schemas.openxmlformats.org/officeDocument/2006/relationships/vmlDrawing" Target="../drawings/vmlDrawing17.vml"/><Relationship Id="rId6" Type="http://schemas.openxmlformats.org/officeDocument/2006/relationships/image" Target="../media/image1.emf"/><Relationship Id="rId5" Type="http://schemas.openxmlformats.org/officeDocument/2006/relationships/oleObject" Target="../embeddings/oleObject14.bin"/><Relationship Id="rId4"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1.xml"/><Relationship Id="rId1" Type="http://schemas.openxmlformats.org/officeDocument/2006/relationships/vmlDrawing" Target="../drawings/vmlDrawing18.v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15.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extLst>
              <p:ext uri="{D42A27DB-BD31-4B8C-83A1-F6EECF244321}">
                <p14:modId xmlns:p14="http://schemas.microsoft.com/office/powerpoint/2010/main" val="39856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075" name="think-cell Slide" r:id="rId7" imgW="384" imgH="384" progId="TCLayout.ActiveDocument.1">
                  <p:embed/>
                </p:oleObj>
              </mc:Choice>
              <mc:Fallback>
                <p:oleObj name="think-cell Slide" r:id="rId7" imgW="384" imgH="384" progId="TCLayout.ActiveDocument.1">
                  <p:embed/>
                  <p:pic>
                    <p:nvPicPr>
                      <p:cNvPr id="0" name=""/>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3"/>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9">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4"/>
            </p:custDataLst>
          </p:nvPr>
        </p:nvPicPr>
        <p:blipFill rotWithShape="1">
          <a:blip r:embed="rId10">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sp>
        <p:nvSpPr>
          <p:cNvPr id="33" name="Freeform 32"/>
          <p:cNvSpPr>
            <a:spLocks noChangeAspect="1"/>
          </p:cNvSpPr>
          <p:nvPr userDrawn="1">
            <p:custDataLst>
              <p:tags r:id="rId5"/>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4099" name="think-cell Slide" r:id="rId5" imgW="324" imgH="324" progId="TCLayout.ActiveDocument.1">
                  <p:embed/>
                </p:oleObj>
              </mc:Choice>
              <mc:Fallback>
                <p:oleObj name="think-cell Slide" r:id="rId5" imgW="324" imgH="32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5" name="Picture 14"/>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6" name="Picture 15"/>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5123"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6">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6147"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3"/>
            </p:custDataLst>
          </p:nvPr>
        </p:nvPicPr>
        <p:blipFill>
          <a:blip r:embed="rId8">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4"/>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171" name="think-cell Slide" r:id="rId7" imgW="384" imgH="384" progId="TCLayout.ActiveDocument.1">
                  <p:embed/>
                </p:oleObj>
              </mc:Choice>
              <mc:Fallback>
                <p:oleObj name="think-cell Slide" r:id="rId7" imgW="384" imgH="384" progId="TCLayout.ActiveDocument.1">
                  <p:embed/>
                  <p:pic>
                    <p:nvPicPr>
                      <p:cNvPr id="0" name=""/>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9">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4"/>
            </p:custDataLst>
          </p:nvPr>
        </p:nvPicPr>
        <p:blipFill rotWithShape="1">
          <a:blip r:embed="rId10">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5"/>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195" name="think-cell Slide" r:id="rId5" imgW="324" imgH="324" progId="TCLayout.ActiveDocument.1">
                  <p:embed/>
                </p:oleObj>
              </mc:Choice>
              <mc:Fallback>
                <p:oleObj name="think-cell Slide" r:id="rId5" imgW="324" imgH="32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4"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2" name="Picture 11"/>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9219" name="think-cell Slide" r:id="rId4" imgW="384" imgH="384" progId="TCLayout.ActiveDocument.1">
                  <p:embed/>
                </p:oleObj>
              </mc:Choice>
              <mc:Fallback>
                <p:oleObj name="think-cell Slide" r:id="rId4" imgW="384" imgH="38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6">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0243"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3"/>
            </p:custDataLst>
          </p:nvPr>
        </p:nvPicPr>
        <p:blipFill>
          <a:blip r:embed="rId8">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4"/>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1267" name="think-cell Slide" r:id="rId5" imgW="270" imgH="270" progId="TCLayout.ActiveDocument.1">
                  <p:embed/>
                </p:oleObj>
              </mc:Choice>
              <mc:Fallback>
                <p:oleObj name="think-cell Slide" r:id="rId5" imgW="270" imgH="270" progId="TCLayout.ActiveDocument.1">
                  <p:embed/>
                  <p:pic>
                    <p:nvPicPr>
                      <p:cNvPr id="3" name="Object 2"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3"/>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2291"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3315"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4339" name="think-cell Slide" r:id="rId5" imgW="270" imgH="270" progId="TCLayout.ActiveDocument.1">
                  <p:embed/>
                </p:oleObj>
              </mc:Choice>
              <mc:Fallback>
                <p:oleObj name="think-cell Slide" r:id="rId5" imgW="270" imgH="270"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7">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5363" name="think-cell Slide" r:id="rId5" imgW="270" imgH="270" progId="TCLayout.ActiveDocument.1">
                  <p:embed/>
                </p:oleObj>
              </mc:Choice>
              <mc:Fallback>
                <p:oleObj name="think-cell Slide" r:id="rId5" imgW="270" imgH="270"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3"/>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6387"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7411"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8435" name="think-cell Slide" r:id="rId5" imgW="270" imgH="270" progId="TCLayout.ActiveDocument.1">
                  <p:embed/>
                </p:oleObj>
              </mc:Choice>
              <mc:Fallback>
                <p:oleObj name="think-cell Slide" r:id="rId5" imgW="270" imgH="270"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7">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9459"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61" Type="http://schemas.openxmlformats.org/officeDocument/2006/relationships/slideLayout" Target="../slideLayouts/slideLayout6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vmlDrawing" Target="../drawings/vmlDrawing1.v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image" Target="../media/image1.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70"/>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051" name="think-cell Slide" r:id="rId71" imgW="270" imgH="270" progId="TCLayout.ActiveDocument.1">
                  <p:embed/>
                </p:oleObj>
              </mc:Choice>
              <mc:Fallback>
                <p:oleObj name="think-cell Slide" r:id="rId71" imgW="270" imgH="270" progId="TCLayout.ActiveDocument.1">
                  <p:embed/>
                  <p:pic>
                    <p:nvPicPr>
                      <p:cNvPr id="0" name=""/>
                      <p:cNvPicPr/>
                      <p:nvPr/>
                    </p:nvPicPr>
                    <p:blipFill>
                      <a:blip r:embed="rId72"/>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tags" Target="../tags/tag83.xml"/><Relationship Id="rId7" Type="http://schemas.openxmlformats.org/officeDocument/2006/relationships/image" Target="../media/image10.emf"/><Relationship Id="rId2" Type="http://schemas.openxmlformats.org/officeDocument/2006/relationships/tags" Target="../tags/tag82.xml"/><Relationship Id="rId1" Type="http://schemas.openxmlformats.org/officeDocument/2006/relationships/vmlDrawing" Target="../drawings/vmlDrawing19.vml"/><Relationship Id="rId6" Type="http://schemas.openxmlformats.org/officeDocument/2006/relationships/oleObject" Target="../embeddings/oleObject16.bin"/><Relationship Id="rId5" Type="http://schemas.openxmlformats.org/officeDocument/2006/relationships/slideLayout" Target="../slideLayouts/slideLayout2.xml"/><Relationship Id="rId10" Type="http://schemas.openxmlformats.org/officeDocument/2006/relationships/image" Target="../media/image12.png"/><Relationship Id="rId4" Type="http://schemas.openxmlformats.org/officeDocument/2006/relationships/tags" Target="../tags/tag84.xml"/><Relationship Id="rId9" Type="http://schemas.openxmlformats.org/officeDocument/2006/relationships/image" Target="../media/image11.em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8DB88079-4CFC-3A07-EAC6-F42F83D9F7FC}"/>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F3865D3-5602-FB72-4DDC-D8D544E43DC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28" name="think-cell Slide" r:id="rId6" imgW="286" imgH="286" progId="TCLayout.ActiveDocument.1">
                  <p:embed/>
                </p:oleObj>
              </mc:Choice>
              <mc:Fallback>
                <p:oleObj name="think-cell Slide" r:id="rId6" imgW="286" imgH="286" progId="TCLayout.ActiveDocument.1">
                  <p:embed/>
                  <p:pic>
                    <p:nvPicPr>
                      <p:cNvPr id="4" name="Object 3" hidden="1">
                        <a:extLst>
                          <a:ext uri="{FF2B5EF4-FFF2-40B4-BE49-F238E27FC236}">
                            <a16:creationId xmlns:a16="http://schemas.microsoft.com/office/drawing/2014/main" id="{2F3865D3-5602-FB72-4DDC-D8D544E43DC7}"/>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204233E-D808-43F8-E8D2-630EBED07FDB}"/>
              </a:ext>
            </a:extLst>
          </p:cNvPr>
          <p:cNvSpPr>
            <a:spLocks noGrp="1"/>
          </p:cNvSpPr>
          <p:nvPr>
            <p:ph type="title"/>
          </p:nvPr>
        </p:nvSpPr>
        <p:spPr>
          <a:xfrm>
            <a:off x="672842" y="131734"/>
            <a:ext cx="10933200" cy="1163395"/>
          </a:xfrm>
        </p:spPr>
        <p:txBody>
          <a:bodyPr anchor="t"/>
          <a:lstStyle/>
          <a:p>
            <a:pPr algn="ctr"/>
            <a:r>
              <a:rPr lang="uk-UA" sz="2800" dirty="0" smtClean="0"/>
              <a:t>Стратегічна рекомендація: Перехід на неформальний тон (Campaign A) в Instagram для максимізації залучення нових клієнтів</a:t>
            </a:r>
            <a:endParaRPr lang="uk-UA" sz="2800" dirty="0"/>
          </a:p>
        </p:txBody>
      </p:sp>
      <p:graphicFrame>
        <p:nvGraphicFramePr>
          <p:cNvPr id="17" name="Object 16" hidden="1">
            <a:extLst>
              <a:ext uri="{FF2B5EF4-FFF2-40B4-BE49-F238E27FC236}">
                <a16:creationId xmlns:a16="http://schemas.microsoft.com/office/drawing/2014/main" id="{C2F07A64-3882-0D42-C3A9-A3E2E5ACA011}"/>
              </a:ext>
            </a:extLst>
          </p:cNvPr>
          <p:cNvGraphicFramePr>
            <a:graphicFrameLocks noChangeAspect="1"/>
          </p:cNvGraphicFramePr>
          <p:nvPr>
            <p:custDataLst>
              <p:tags r:id="rId3"/>
            </p:custDataLst>
          </p:nvPr>
        </p:nvGraphicFramePr>
        <p:xfrm>
          <a:off x="153988" y="153988"/>
          <a:ext cx="1587" cy="1587"/>
        </p:xfrm>
        <a:graphic>
          <a:graphicData uri="http://schemas.openxmlformats.org/presentationml/2006/ole">
            <mc:AlternateContent xmlns:mc="http://schemas.openxmlformats.org/markup-compatibility/2006">
              <mc:Choice xmlns:v="urn:schemas-microsoft-com:vml" Requires="v">
                <p:oleObj spid="_x0000_s1029" name="think-cell Slide" r:id="rId8" imgW="270" imgH="270" progId="TCLayout.ActiveDocument.1">
                  <p:embed/>
                </p:oleObj>
              </mc:Choice>
              <mc:Fallback>
                <p:oleObj name="think-cell Slide" r:id="rId8" imgW="270" imgH="270" progId="TCLayout.ActiveDocument.1">
                  <p:embed/>
                  <p:pic>
                    <p:nvPicPr>
                      <p:cNvPr id="17" name="Object 16" hidden="1">
                        <a:extLst>
                          <a:ext uri="{FF2B5EF4-FFF2-40B4-BE49-F238E27FC236}">
                            <a16:creationId xmlns:a16="http://schemas.microsoft.com/office/drawing/2014/main" id="{C2F07A64-3882-0D42-C3A9-A3E2E5ACA011}"/>
                          </a:ext>
                        </a:extLst>
                      </p:cNvPr>
                      <p:cNvPicPr/>
                      <p:nvPr/>
                    </p:nvPicPr>
                    <p:blipFill>
                      <a:blip r:embed="rId9"/>
                      <a:stretch>
                        <a:fillRect/>
                      </a:stretch>
                    </p:blipFill>
                    <p:spPr>
                      <a:xfrm>
                        <a:off x="153988" y="153988"/>
                        <a:ext cx="1587" cy="1587"/>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477E036F-AF50-32A5-AA87-4A97F3F6A88D}"/>
              </a:ext>
            </a:extLst>
          </p:cNvPr>
          <p:cNvSpPr/>
          <p:nvPr/>
        </p:nvSpPr>
        <p:spPr>
          <a:xfrm>
            <a:off x="641671" y="5371165"/>
            <a:ext cx="10933200" cy="957888"/>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600" b="1" dirty="0" smtClean="0">
                <a:solidFill>
                  <a:srgbClr val="000000"/>
                </a:solidFill>
              </a:rPr>
              <a:t>Recommendation:</a:t>
            </a:r>
            <a:endParaRPr lang="en-US" sz="1600" b="1" dirty="0">
              <a:solidFill>
                <a:srgbClr val="000000"/>
              </a:solidFill>
            </a:endParaRPr>
          </a:p>
          <a:p>
            <a:r>
              <a:rPr lang="en-US" sz="1200" b="1" dirty="0" smtClean="0">
                <a:solidFill>
                  <a:schemeClr val="tx1"/>
                </a:solidFill>
              </a:rPr>
              <a:t>1.</a:t>
            </a:r>
            <a:r>
              <a:rPr lang="ru-RU" sz="1200" b="1" dirty="0" smtClean="0">
                <a:solidFill>
                  <a:schemeClr val="tx1"/>
                </a:solidFill>
              </a:rPr>
              <a:t>Double </a:t>
            </a:r>
            <a:r>
              <a:rPr lang="uk-UA" sz="1200" b="1" dirty="0" err="1" smtClean="0">
                <a:solidFill>
                  <a:schemeClr val="tx1"/>
                </a:solidFill>
              </a:rPr>
              <a:t>Down</a:t>
            </a:r>
            <a:r>
              <a:rPr lang="ru-RU" sz="1200" b="1" dirty="0" smtClean="0">
                <a:solidFill>
                  <a:schemeClr val="tx1"/>
                </a:solidFill>
              </a:rPr>
              <a:t>:</a:t>
            </a:r>
            <a:r>
              <a:rPr lang="ru-RU" sz="1200" dirty="0" smtClean="0">
                <a:solidFill>
                  <a:schemeClr val="tx1"/>
                </a:solidFill>
              </a:rPr>
              <a:t> </a:t>
            </a:r>
            <a:r>
              <a:rPr lang="uk-UA" sz="1200" dirty="0" err="1" smtClean="0">
                <a:solidFill>
                  <a:schemeClr val="tx1"/>
                </a:solidFill>
              </a:rPr>
              <a:t>Перенаправи</a:t>
            </a:r>
            <a:r>
              <a:rPr lang="ru-RU" sz="1200" dirty="0" err="1" smtClean="0">
                <a:solidFill>
                  <a:schemeClr val="tx1"/>
                </a:solidFill>
              </a:rPr>
              <a:t>ти</a:t>
            </a:r>
            <a:r>
              <a:rPr lang="ru-RU" sz="1200" dirty="0" smtClean="0">
                <a:solidFill>
                  <a:schemeClr val="tx1"/>
                </a:solidFill>
              </a:rPr>
              <a:t> </a:t>
            </a:r>
            <a:r>
              <a:rPr lang="ru-RU" sz="1200" dirty="0">
                <a:solidFill>
                  <a:schemeClr val="tx1"/>
                </a:solidFill>
              </a:rPr>
              <a:t>70% маркетингового бюджету на </a:t>
            </a:r>
            <a:r>
              <a:rPr lang="ru-RU" sz="1200" dirty="0" err="1">
                <a:solidFill>
                  <a:schemeClr val="tx1"/>
                </a:solidFill>
              </a:rPr>
              <a:t>залучення</a:t>
            </a:r>
            <a:r>
              <a:rPr lang="ru-RU" sz="1200" dirty="0">
                <a:solidFill>
                  <a:schemeClr val="tx1"/>
                </a:solidFill>
              </a:rPr>
              <a:t> </a:t>
            </a:r>
            <a:r>
              <a:rPr lang="ru-RU" sz="1200" dirty="0" err="1">
                <a:solidFill>
                  <a:schemeClr val="tx1"/>
                </a:solidFill>
              </a:rPr>
              <a:t>нових</a:t>
            </a:r>
            <a:r>
              <a:rPr lang="ru-RU" sz="1200" dirty="0">
                <a:solidFill>
                  <a:schemeClr val="tx1"/>
                </a:solidFill>
              </a:rPr>
              <a:t> </a:t>
            </a:r>
            <a:r>
              <a:rPr lang="ru-RU" sz="1200" dirty="0" err="1">
                <a:solidFill>
                  <a:schemeClr val="tx1"/>
                </a:solidFill>
              </a:rPr>
              <a:t>користувачів</a:t>
            </a:r>
            <a:r>
              <a:rPr lang="ru-RU" sz="1200" dirty="0">
                <a:solidFill>
                  <a:schemeClr val="tx1"/>
                </a:solidFill>
              </a:rPr>
              <a:t> у </a:t>
            </a:r>
            <a:r>
              <a:rPr lang="ru-RU" sz="1200" dirty="0" err="1">
                <a:solidFill>
                  <a:schemeClr val="tx1"/>
                </a:solidFill>
              </a:rPr>
              <a:t>комбінацію</a:t>
            </a:r>
            <a:r>
              <a:rPr lang="ru-RU" sz="1200" dirty="0">
                <a:solidFill>
                  <a:schemeClr val="tx1"/>
                </a:solidFill>
              </a:rPr>
              <a:t> </a:t>
            </a:r>
            <a:r>
              <a:rPr lang="ru-RU" sz="1200" b="1" dirty="0" err="1">
                <a:solidFill>
                  <a:schemeClr val="tx1"/>
                </a:solidFill>
              </a:rPr>
              <a:t>Campaign</a:t>
            </a:r>
            <a:r>
              <a:rPr lang="ru-RU" sz="1200" b="1" dirty="0">
                <a:solidFill>
                  <a:schemeClr val="tx1"/>
                </a:solidFill>
              </a:rPr>
              <a:t> A + </a:t>
            </a:r>
            <a:r>
              <a:rPr lang="ru-RU" sz="1200" b="1" dirty="0" err="1" smtClean="0">
                <a:solidFill>
                  <a:schemeClr val="tx1"/>
                </a:solidFill>
              </a:rPr>
              <a:t>Instagram</a:t>
            </a:r>
            <a:endParaRPr lang="en-US" sz="1200" b="1" dirty="0" smtClean="0">
              <a:solidFill>
                <a:schemeClr val="tx1"/>
              </a:solidFill>
            </a:endParaRPr>
          </a:p>
          <a:p>
            <a:r>
              <a:rPr lang="en-US" sz="1200" b="1" dirty="0" smtClean="0">
                <a:solidFill>
                  <a:schemeClr val="tx1"/>
                </a:solidFill>
              </a:rPr>
              <a:t>2.</a:t>
            </a:r>
            <a:r>
              <a:rPr lang="ru-RU" sz="1200" b="1" dirty="0">
                <a:solidFill>
                  <a:schemeClr val="tx1"/>
                </a:solidFill>
              </a:rPr>
              <a:t> </a:t>
            </a:r>
            <a:r>
              <a:rPr lang="ru-RU" sz="1200" b="1" dirty="0" err="1">
                <a:solidFill>
                  <a:schemeClr val="tx1"/>
                </a:solidFill>
              </a:rPr>
              <a:t>Сегментація</a:t>
            </a:r>
            <a:r>
              <a:rPr lang="ru-RU" sz="1200" b="1" dirty="0">
                <a:solidFill>
                  <a:schemeClr val="tx1"/>
                </a:solidFill>
              </a:rPr>
              <a:t>:</a:t>
            </a:r>
            <a:r>
              <a:rPr lang="ru-RU" sz="1200" dirty="0">
                <a:solidFill>
                  <a:schemeClr val="tx1"/>
                </a:solidFill>
              </a:rPr>
              <a:t> </a:t>
            </a:r>
            <a:r>
              <a:rPr lang="ru-RU" sz="1200" dirty="0" err="1">
                <a:solidFill>
                  <a:schemeClr val="tx1"/>
                </a:solidFill>
              </a:rPr>
              <a:t>Залишити</a:t>
            </a:r>
            <a:r>
              <a:rPr lang="ru-RU" sz="1200" dirty="0">
                <a:solidFill>
                  <a:schemeClr val="tx1"/>
                </a:solidFill>
              </a:rPr>
              <a:t> </a:t>
            </a:r>
            <a:r>
              <a:rPr lang="en-US" sz="1200" b="1" dirty="0">
                <a:solidFill>
                  <a:schemeClr val="tx1"/>
                </a:solidFill>
              </a:rPr>
              <a:t>Campaign B</a:t>
            </a:r>
            <a:r>
              <a:rPr lang="en-US" sz="1200" dirty="0">
                <a:solidFill>
                  <a:schemeClr val="tx1"/>
                </a:solidFill>
              </a:rPr>
              <a:t> (</a:t>
            </a:r>
            <a:r>
              <a:rPr lang="ru-RU" sz="1200" dirty="0">
                <a:solidFill>
                  <a:schemeClr val="tx1"/>
                </a:solidFill>
              </a:rPr>
              <a:t>промо-</a:t>
            </a:r>
            <a:r>
              <a:rPr lang="ru-RU" sz="1200" dirty="0" err="1">
                <a:solidFill>
                  <a:schemeClr val="tx1"/>
                </a:solidFill>
              </a:rPr>
              <a:t>знижки</a:t>
            </a:r>
            <a:r>
              <a:rPr lang="ru-RU" sz="1200" dirty="0">
                <a:solidFill>
                  <a:schemeClr val="tx1"/>
                </a:solidFill>
              </a:rPr>
              <a:t>) </a:t>
            </a:r>
            <a:r>
              <a:rPr lang="ru-RU" sz="1200" i="1" dirty="0" err="1">
                <a:solidFill>
                  <a:schemeClr val="tx1"/>
                </a:solidFill>
              </a:rPr>
              <a:t>виключно</a:t>
            </a:r>
            <a:r>
              <a:rPr lang="ru-RU" sz="1200" dirty="0">
                <a:solidFill>
                  <a:schemeClr val="tx1"/>
                </a:solidFill>
              </a:rPr>
              <a:t> для </a:t>
            </a:r>
            <a:r>
              <a:rPr lang="ru-RU" sz="1200" dirty="0" err="1">
                <a:solidFill>
                  <a:schemeClr val="tx1"/>
                </a:solidFill>
              </a:rPr>
              <a:t>утримання</a:t>
            </a:r>
            <a:r>
              <a:rPr lang="ru-RU" sz="1200" dirty="0">
                <a:solidFill>
                  <a:schemeClr val="tx1"/>
                </a:solidFill>
              </a:rPr>
              <a:t> </a:t>
            </a:r>
            <a:r>
              <a:rPr lang="ru-RU" sz="1200" dirty="0" err="1">
                <a:solidFill>
                  <a:schemeClr val="tx1"/>
                </a:solidFill>
              </a:rPr>
              <a:t>старої</a:t>
            </a:r>
            <a:r>
              <a:rPr lang="ru-RU" sz="1200" dirty="0">
                <a:solidFill>
                  <a:schemeClr val="tx1"/>
                </a:solidFill>
              </a:rPr>
              <a:t> </a:t>
            </a:r>
            <a:r>
              <a:rPr lang="ru-RU" sz="1200" dirty="0" err="1">
                <a:solidFill>
                  <a:schemeClr val="tx1"/>
                </a:solidFill>
              </a:rPr>
              <a:t>бази</a:t>
            </a:r>
            <a:r>
              <a:rPr lang="ru-RU" sz="1200" dirty="0">
                <a:solidFill>
                  <a:schemeClr val="tx1"/>
                </a:solidFill>
              </a:rPr>
              <a:t> через </a:t>
            </a:r>
            <a:r>
              <a:rPr lang="en-US" sz="1200" dirty="0">
                <a:solidFill>
                  <a:schemeClr val="tx1"/>
                </a:solidFill>
              </a:rPr>
              <a:t>Email-</a:t>
            </a:r>
            <a:r>
              <a:rPr lang="ru-RU" sz="1200" dirty="0" err="1">
                <a:solidFill>
                  <a:schemeClr val="tx1"/>
                </a:solidFill>
              </a:rPr>
              <a:t>розсилки</a:t>
            </a:r>
            <a:r>
              <a:rPr lang="ru-RU" sz="1200" dirty="0">
                <a:solidFill>
                  <a:schemeClr val="tx1"/>
                </a:solidFill>
              </a:rPr>
              <a:t>.</a:t>
            </a:r>
            <a:endParaRPr lang="en-US" sz="1200" b="1" dirty="0" smtClean="0">
              <a:solidFill>
                <a:schemeClr val="tx1"/>
              </a:solidFill>
            </a:endParaRPr>
          </a:p>
          <a:p>
            <a:r>
              <a:rPr lang="en-US" sz="1200" dirty="0" smtClean="0">
                <a:solidFill>
                  <a:schemeClr val="tx1"/>
                </a:solidFill>
              </a:rPr>
              <a:t>3.</a:t>
            </a:r>
            <a:r>
              <a:rPr lang="ru-RU" sz="1200" b="1" dirty="0">
                <a:solidFill>
                  <a:schemeClr val="tx1"/>
                </a:solidFill>
              </a:rPr>
              <a:t> </a:t>
            </a:r>
            <a:r>
              <a:rPr lang="ru-RU" sz="1200" b="1" noProof="1" smtClean="0">
                <a:solidFill>
                  <a:schemeClr val="tx1"/>
                </a:solidFill>
              </a:rPr>
              <a:t>Оптимізація</a:t>
            </a:r>
            <a:r>
              <a:rPr lang="ru-RU" sz="1200" b="1" dirty="0" smtClean="0">
                <a:solidFill>
                  <a:schemeClr val="tx1"/>
                </a:solidFill>
              </a:rPr>
              <a:t> </a:t>
            </a:r>
            <a:r>
              <a:rPr lang="ru-RU" sz="1200" b="1" dirty="0" err="1">
                <a:solidFill>
                  <a:schemeClr val="tx1"/>
                </a:solidFill>
              </a:rPr>
              <a:t>банерів</a:t>
            </a:r>
            <a:r>
              <a:rPr lang="ru-RU" sz="1200" b="1" dirty="0">
                <a:solidFill>
                  <a:schemeClr val="tx1"/>
                </a:solidFill>
              </a:rPr>
              <a:t>:</a:t>
            </a:r>
            <a:r>
              <a:rPr lang="ru-RU" sz="1200" dirty="0">
                <a:solidFill>
                  <a:schemeClr val="tx1"/>
                </a:solidFill>
              </a:rPr>
              <a:t> Перевести </a:t>
            </a:r>
            <a:r>
              <a:rPr lang="ru-RU" sz="1200" dirty="0" err="1">
                <a:solidFill>
                  <a:schemeClr val="tx1"/>
                </a:solidFill>
              </a:rPr>
              <a:t>банери</a:t>
            </a:r>
            <a:r>
              <a:rPr lang="ru-RU" sz="1200" dirty="0">
                <a:solidFill>
                  <a:schemeClr val="tx1"/>
                </a:solidFill>
              </a:rPr>
              <a:t> на </a:t>
            </a:r>
            <a:r>
              <a:rPr lang="ru-RU" sz="1200" dirty="0" err="1">
                <a:solidFill>
                  <a:schemeClr val="tx1"/>
                </a:solidFill>
              </a:rPr>
              <a:t>сайті</a:t>
            </a:r>
            <a:r>
              <a:rPr lang="ru-RU" sz="1200" dirty="0">
                <a:solidFill>
                  <a:schemeClr val="tx1"/>
                </a:solidFill>
              </a:rPr>
              <a:t> на </a:t>
            </a:r>
            <a:r>
              <a:rPr lang="ru-RU" sz="1200" dirty="0" err="1">
                <a:solidFill>
                  <a:schemeClr val="tx1"/>
                </a:solidFill>
              </a:rPr>
              <a:t>неформальний</a:t>
            </a:r>
            <a:r>
              <a:rPr lang="ru-RU" sz="1200" dirty="0">
                <a:solidFill>
                  <a:schemeClr val="tx1"/>
                </a:solidFill>
              </a:rPr>
              <a:t> тон (</a:t>
            </a:r>
            <a:r>
              <a:rPr lang="ru-RU" sz="1200" dirty="0" err="1">
                <a:solidFill>
                  <a:schemeClr val="tx1"/>
                </a:solidFill>
              </a:rPr>
              <a:t>Campaign</a:t>
            </a:r>
            <a:r>
              <a:rPr lang="ru-RU" sz="1200" dirty="0">
                <a:solidFill>
                  <a:schemeClr val="tx1"/>
                </a:solidFill>
              </a:rPr>
              <a:t> A), </a:t>
            </a:r>
            <a:r>
              <a:rPr lang="ru-RU" sz="1200" dirty="0" err="1">
                <a:solidFill>
                  <a:schemeClr val="tx1"/>
                </a:solidFill>
              </a:rPr>
              <a:t>оскільки</a:t>
            </a:r>
            <a:r>
              <a:rPr lang="ru-RU" sz="1200" dirty="0">
                <a:solidFill>
                  <a:schemeClr val="tx1"/>
                </a:solidFill>
              </a:rPr>
              <a:t> </a:t>
            </a:r>
            <a:r>
              <a:rPr lang="ru-RU" sz="1200" dirty="0" err="1">
                <a:solidFill>
                  <a:schemeClr val="tx1"/>
                </a:solidFill>
              </a:rPr>
              <a:t>він</a:t>
            </a:r>
            <a:r>
              <a:rPr lang="ru-RU" sz="1200" dirty="0">
                <a:solidFill>
                  <a:schemeClr val="tx1"/>
                </a:solidFill>
              </a:rPr>
              <a:t> </a:t>
            </a:r>
            <a:r>
              <a:rPr lang="ru-RU" sz="1200" dirty="0" err="1">
                <a:solidFill>
                  <a:schemeClr val="tx1"/>
                </a:solidFill>
              </a:rPr>
              <a:t>ефективніший</a:t>
            </a:r>
            <a:r>
              <a:rPr lang="ru-RU" sz="1200" dirty="0">
                <a:solidFill>
                  <a:schemeClr val="tx1"/>
                </a:solidFill>
              </a:rPr>
              <a:t> для </a:t>
            </a:r>
            <a:r>
              <a:rPr lang="ru-RU" sz="1200" dirty="0" err="1">
                <a:solidFill>
                  <a:schemeClr val="tx1"/>
                </a:solidFill>
              </a:rPr>
              <a:t>першого</a:t>
            </a:r>
            <a:r>
              <a:rPr lang="ru-RU" sz="1200" dirty="0">
                <a:solidFill>
                  <a:schemeClr val="tx1"/>
                </a:solidFill>
              </a:rPr>
              <a:t> контакту.</a:t>
            </a:r>
            <a:endParaRPr lang="en-US" sz="1200" dirty="0">
              <a:solidFill>
                <a:schemeClr val="tx1"/>
              </a:solidFill>
            </a:endParaRPr>
          </a:p>
        </p:txBody>
      </p:sp>
      <p:sp>
        <p:nvSpPr>
          <p:cNvPr id="18" name="Rectangle 17" hidden="1">
            <a:extLst>
              <a:ext uri="{FF2B5EF4-FFF2-40B4-BE49-F238E27FC236}">
                <a16:creationId xmlns:a16="http://schemas.microsoft.com/office/drawing/2014/main" id="{F3373025-70F2-206E-C2A9-CF622E9D0E06}"/>
              </a:ext>
            </a:extLst>
          </p:cNvPr>
          <p:cNvSpPr/>
          <p:nvPr>
            <p:custDataLst>
              <p:tags r:id="rId4"/>
            </p:custDataLst>
          </p:nvPr>
        </p:nvSpPr>
        <p:spPr bwMode="gray">
          <a:xfrm>
            <a:off x="152400" y="15240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1600">
              <a:solidFill>
                <a:srgbClr val="FFFFFF"/>
              </a:solidFill>
              <a:latin typeface="Trebuchet MS" panose="020B0603020202020204" pitchFamily="34" charset="0"/>
              <a:sym typeface="Trebuchet MS" panose="020B0603020202020204" pitchFamily="34" charset="0"/>
            </a:endParaRPr>
          </a:p>
        </p:txBody>
      </p:sp>
      <p:sp>
        <p:nvSpPr>
          <p:cNvPr id="51" name="Rectangle 50">
            <a:extLst>
              <a:ext uri="{FF2B5EF4-FFF2-40B4-BE49-F238E27FC236}">
                <a16:creationId xmlns:a16="http://schemas.microsoft.com/office/drawing/2014/main" id="{BF4368DF-6E20-14F0-6E67-1E1CD9E7A1F1}"/>
              </a:ext>
            </a:extLst>
          </p:cNvPr>
          <p:cNvSpPr/>
          <p:nvPr/>
        </p:nvSpPr>
        <p:spPr>
          <a:xfrm>
            <a:off x="4152757" y="2163569"/>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2" name="Rectangle 51">
            <a:extLst>
              <a:ext uri="{FF2B5EF4-FFF2-40B4-BE49-F238E27FC236}">
                <a16:creationId xmlns:a16="http://schemas.microsoft.com/office/drawing/2014/main" id="{E2B2A643-298F-D571-396A-2AD97701D1C3}"/>
              </a:ext>
            </a:extLst>
          </p:cNvPr>
          <p:cNvSpPr/>
          <p:nvPr/>
        </p:nvSpPr>
        <p:spPr>
          <a:xfrm>
            <a:off x="7476125" y="2155067"/>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3" name="Rectangle 52">
            <a:extLst>
              <a:ext uri="{FF2B5EF4-FFF2-40B4-BE49-F238E27FC236}">
                <a16:creationId xmlns:a16="http://schemas.microsoft.com/office/drawing/2014/main" id="{B52E5477-8A78-817E-6DEC-CF5CD1757B04}"/>
              </a:ext>
            </a:extLst>
          </p:cNvPr>
          <p:cNvSpPr/>
          <p:nvPr/>
        </p:nvSpPr>
        <p:spPr>
          <a:xfrm>
            <a:off x="4306799" y="1719502"/>
            <a:ext cx="2328814" cy="276999"/>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21BF61"/>
                </a:solidFill>
              </a:rPr>
              <a:t>[Chart Title/ Callout]</a:t>
            </a:r>
          </a:p>
        </p:txBody>
      </p:sp>
      <p:sp>
        <p:nvSpPr>
          <p:cNvPr id="54" name="Rectangle 53">
            <a:extLst>
              <a:ext uri="{FF2B5EF4-FFF2-40B4-BE49-F238E27FC236}">
                <a16:creationId xmlns:a16="http://schemas.microsoft.com/office/drawing/2014/main" id="{AC2F7AF7-DC76-6C1A-0458-2264EDF24BF9}"/>
              </a:ext>
            </a:extLst>
          </p:cNvPr>
          <p:cNvSpPr/>
          <p:nvPr/>
        </p:nvSpPr>
        <p:spPr>
          <a:xfrm>
            <a:off x="7622972" y="1715577"/>
            <a:ext cx="2328814" cy="276999"/>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21BF61"/>
                </a:solidFill>
              </a:rPr>
              <a:t>[Chart Title/ Callout]</a:t>
            </a:r>
          </a:p>
        </p:txBody>
      </p:sp>
      <p:sp>
        <p:nvSpPr>
          <p:cNvPr id="5" name="Rectangle 4">
            <a:extLst>
              <a:ext uri="{FF2B5EF4-FFF2-40B4-BE49-F238E27FC236}">
                <a16:creationId xmlns:a16="http://schemas.microsoft.com/office/drawing/2014/main" id="{DA3175F1-F880-FD13-5347-0D98BDB0DD10}"/>
              </a:ext>
            </a:extLst>
          </p:cNvPr>
          <p:cNvSpPr/>
          <p:nvPr/>
        </p:nvSpPr>
        <p:spPr>
          <a:xfrm>
            <a:off x="11804073" y="3685308"/>
            <a:ext cx="290946" cy="2951018"/>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6" name="Rectangle 5">
            <a:extLst>
              <a:ext uri="{FF2B5EF4-FFF2-40B4-BE49-F238E27FC236}">
                <a16:creationId xmlns:a16="http://schemas.microsoft.com/office/drawing/2014/main" id="{481B1DE6-2CDC-940C-8490-377786C3D307}"/>
              </a:ext>
            </a:extLst>
          </p:cNvPr>
          <p:cNvSpPr/>
          <p:nvPr/>
        </p:nvSpPr>
        <p:spPr>
          <a:xfrm>
            <a:off x="11429699" y="6425644"/>
            <a:ext cx="159327" cy="238839"/>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pic>
        <p:nvPicPr>
          <p:cNvPr id="7" name="Рисунок 6"/>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308335" y="1596359"/>
            <a:ext cx="9599871" cy="3564458"/>
          </a:xfrm>
          <a:prstGeom prst="rect">
            <a:avLst/>
          </a:prstGeom>
        </p:spPr>
      </p:pic>
    </p:spTree>
    <p:extLst>
      <p:ext uri="{BB962C8B-B14F-4D97-AF65-F5344CB8AC3E}">
        <p14:creationId xmlns:p14="http://schemas.microsoft.com/office/powerpoint/2010/main" val="1463983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3.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3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8.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7.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6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Presentation1" id="{9F202C15-0297-4FD9-95CD-005C6172BBB7}" vid="{593C2B70-5186-41B3-84B4-3F94B52F9FF3}"/>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317974F467E37438C146AD78195A289" ma:contentTypeVersion="27" ma:contentTypeDescription="Create a new document." ma:contentTypeScope="" ma:versionID="e03602932086b18a40c6e416cb2a7f69">
  <xsd:schema xmlns:xsd="http://www.w3.org/2001/XMLSchema" xmlns:xs="http://www.w3.org/2001/XMLSchema" xmlns:p="http://schemas.microsoft.com/office/2006/metadata/properties" xmlns:ns1="http://schemas.microsoft.com/sharepoint/v3" xmlns:ns2="0991f213-3730-40e2-91ec-6de05b6aabb5" xmlns:ns3="36d2b8e5-71dc-415e-89f3-3c8649eed760" targetNamespace="http://schemas.microsoft.com/office/2006/metadata/properties" ma:root="true" ma:fieldsID="3833a751b348f4aa5ccc35fecd3b1d1f" ns1:_="" ns2:_="" ns3:_="">
    <xsd:import namespace="http://schemas.microsoft.com/sharepoint/v3"/>
    <xsd:import namespace="0991f213-3730-40e2-91ec-6de05b6aabb5"/>
    <xsd:import namespace="36d2b8e5-71dc-415e-89f3-3c8649eed76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Reader" minOccurs="0"/>
                <xsd:element ref="ns2:Level" minOccurs="0"/>
                <xsd:element ref="ns2:Region" minOccurs="0"/>
                <xsd:element ref="ns2:Insights" minOccurs="0"/>
                <xsd:element ref="ns2:Rec_x002f_Can" minOccurs="0"/>
                <xsd:element ref="ns1:_ip_UnifiedCompliancePolicyProperties" minOccurs="0"/>
                <xsd:element ref="ns1:_ip_UnifiedCompliancePolicyUIAction" minOccurs="0"/>
                <xsd:element ref="ns2:_Flow_SignoffStatu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91f213-3730-40e2-91ec-6de05b6aab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1edaf98-933d-48b7-9af8-6bdbb703d060"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Reader" ma:index="23" nillable="true" ma:displayName="Reader" ma:description="Who from Design team has / wants to read this item" ma:format="Dropdown" ma:internalName="Reader">
      <xsd:simpleType>
        <xsd:restriction base="dms:Text">
          <xsd:maxLength value="255"/>
        </xsd:restriction>
      </xsd:simpleType>
    </xsd:element>
    <xsd:element name="Level" ma:index="24" nillable="true" ma:displayName="Level" ma:format="Dropdown" ma:internalName="Level">
      <xsd:simpleType>
        <xsd:restriction base="dms:Choice">
          <xsd:enumeration value="Campus"/>
          <xsd:enumeration value="Industry"/>
          <xsd:enumeration value="Exec"/>
          <xsd:enumeration value="other"/>
        </xsd:restriction>
      </xsd:simpleType>
    </xsd:element>
    <xsd:element name="Region" ma:index="25" nillable="true" ma:displayName="Region" ma:format="Dropdown" ma:internalName="Region">
      <xsd:simpleType>
        <xsd:restriction base="dms:Choice">
          <xsd:enumeration value="NAMR"/>
          <xsd:enumeration value="EMESA"/>
          <xsd:enumeration value="APAC"/>
          <xsd:enumeration value="Global"/>
        </xsd:restriction>
      </xsd:simpleType>
    </xsd:element>
    <xsd:element name="Insights" ma:index="26" nillable="true" ma:displayName="Insights" ma:description="A space to capture insights and highlights from the interview, to help us find sources if needed later." ma:format="Dropdown" ma:internalName="Insights">
      <xsd:simpleType>
        <xsd:restriction base="dms:Note">
          <xsd:maxLength value="255"/>
        </xsd:restriction>
      </xsd:simpleType>
    </xsd:element>
    <xsd:element name="Rec_x002f_Can" ma:index="27" nillable="true" ma:displayName="Rec / Can" ma:format="Dropdown" ma:internalName="Rec_x002f_Can">
      <xsd:simpleType>
        <xsd:restriction base="dms:Choice">
          <xsd:enumeration value="Recruiter"/>
          <xsd:enumeration value="Candidate"/>
        </xsd:restriction>
      </xsd:simpleType>
    </xsd:element>
    <xsd:element name="_Flow_SignoffStatus" ma:index="30" nillable="true" ma:displayName="Sign-off status" ma:internalName="Sign_x002d_off_x0020_status">
      <xsd:simpleType>
        <xsd:restriction base="dms:Text"/>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6d2b8e5-71dc-415e-89f3-3c8649eed760"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f2f81cf-8db6-41f8-8a1e-7000546bd34b}" ma:internalName="TaxCatchAll" ma:showField="CatchAllData" ma:web="36d2b8e5-71dc-415e-89f3-3c8649eed760">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Reader xmlns="0991f213-3730-40e2-91ec-6de05b6aabb5" xsi:nil="true"/>
    <Region xmlns="0991f213-3730-40e2-91ec-6de05b6aabb5" xsi:nil="true"/>
    <Rec_x002f_Can xmlns="0991f213-3730-40e2-91ec-6de05b6aabb5" xsi:nil="true"/>
    <_ip_UnifiedCompliancePolicyProperties xmlns="http://schemas.microsoft.com/sharepoint/v3" xsi:nil="true"/>
    <TaxCatchAll xmlns="36d2b8e5-71dc-415e-89f3-3c8649eed760" xsi:nil="true"/>
    <lcf76f155ced4ddcb4097134ff3c332f xmlns="0991f213-3730-40e2-91ec-6de05b6aabb5">
      <Terms xmlns="http://schemas.microsoft.com/office/infopath/2007/PartnerControls"/>
    </lcf76f155ced4ddcb4097134ff3c332f>
    <Level xmlns="0991f213-3730-40e2-91ec-6de05b6aabb5" xsi:nil="true"/>
    <_Flow_SignoffStatus xmlns="0991f213-3730-40e2-91ec-6de05b6aabb5" xsi:nil="true"/>
    <Insights xmlns="0991f213-3730-40e2-91ec-6de05b6aabb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AFEDB00-AE08-4CC7-908B-138CC2F888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991f213-3730-40e2-91ec-6de05b6aabb5"/>
    <ds:schemaRef ds:uri="36d2b8e5-71dc-415e-89f3-3c8649eed7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416FAC-37CA-4AF3-9A4A-9E56DF196B4D}">
  <ds:schemaRef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schemas.microsoft.com/sharepoint/v3"/>
    <ds:schemaRef ds:uri="36d2b8e5-71dc-415e-89f3-3c8649eed760"/>
    <ds:schemaRef ds:uri="http://purl.org/dc/terms/"/>
    <ds:schemaRef ds:uri="http://schemas.openxmlformats.org/package/2006/metadata/core-properties"/>
    <ds:schemaRef ds:uri="0991f213-3730-40e2-91ec-6de05b6aabb5"/>
    <ds:schemaRef ds:uri="http://www.w3.org/XML/1998/namespace"/>
    <ds:schemaRef ds:uri="http://purl.org/dc/dcmitype/"/>
  </ds:schemaRefs>
</ds:datastoreItem>
</file>

<file path=customXml/itemProps3.xml><?xml version="1.0" encoding="utf-8"?>
<ds:datastoreItem xmlns:ds="http://schemas.openxmlformats.org/officeDocument/2006/customXml" ds:itemID="{F0D9CDD6-302A-4910-894A-79BA7510E5E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BCG Grid 16:9</Template>
  <TotalTime>124</TotalTime>
  <Words>94</Words>
  <Application>Microsoft Office PowerPoint</Application>
  <PresentationFormat>Широкоэкранный</PresentationFormat>
  <Paragraphs>7</Paragraphs>
  <Slides>1</Slides>
  <Notes>0</Notes>
  <HiddenSlides>0</HiddenSlides>
  <MMClips>0</MMClips>
  <ScaleCrop>false</ScaleCrop>
  <HeadingPairs>
    <vt:vector size="10" baseType="variant">
      <vt:variant>
        <vt:lpstr>Использованные шрифты</vt:lpstr>
      </vt:variant>
      <vt:variant>
        <vt:i4>2</vt:i4>
      </vt:variant>
      <vt:variant>
        <vt:lpstr>Тема</vt:lpstr>
      </vt:variant>
      <vt:variant>
        <vt:i4>1</vt:i4>
      </vt:variant>
      <vt:variant>
        <vt:lpstr>Внедренные серверы OLE</vt:lpstr>
      </vt:variant>
      <vt:variant>
        <vt:i4>1</vt:i4>
      </vt:variant>
      <vt:variant>
        <vt:lpstr>Заголовки слайдов</vt:lpstr>
      </vt:variant>
      <vt:variant>
        <vt:i4>1</vt:i4>
      </vt:variant>
      <vt:variant>
        <vt:lpstr>Произвольные показы</vt:lpstr>
      </vt:variant>
      <vt:variant>
        <vt:i4>1</vt:i4>
      </vt:variant>
    </vt:vector>
  </HeadingPairs>
  <TitlesOfParts>
    <vt:vector size="6" baseType="lpstr">
      <vt:lpstr>Arial</vt:lpstr>
      <vt:lpstr>Trebuchet MS</vt:lpstr>
      <vt:lpstr>BCG Grid 16:9</vt:lpstr>
      <vt:lpstr>think-cell Slide</vt:lpstr>
      <vt:lpstr>Стратегічна рекомендація: Перехід на неформальний тон (Campaign A) в Instagram для максимізації залучення нових клієнтів</vt:lpstr>
      <vt:lpstr>Format Guide Workshop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Стратегічна рекомендація: Перехід на неформальний тон (Campaign A) в Instagram для максимізації залучення нових клієнтів</dc:title>
  <dc:creator>Scobee, Kyle</dc:creator>
  <cp:lastModifiedBy>Rikin</cp:lastModifiedBy>
  <cp:revision>10</cp:revision>
  <cp:lastPrinted>2016-04-06T18:59:25Z</cp:lastPrinted>
  <dcterms:created xsi:type="dcterms:W3CDTF">2025-04-28T17:07:03Z</dcterms:created>
  <dcterms:modified xsi:type="dcterms:W3CDTF">2026-06-29T15:12:34Z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2025-04-28T17:07:45Z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f2528353-4ad6-4815-81e0-0b5048609e13</vt:lpwstr>
  </property>
  <property fmtid="{D5CDD505-2E9C-101B-9397-08002B2CF9AE}" pid="13" name="MSIP_Label_b0d5c4f4-7a29-4385-b7a5-afbe2154ae6f_ContentBits">
    <vt:lpwstr>0</vt:lpwstr>
  </property>
  <property fmtid="{D5CDD505-2E9C-101B-9397-08002B2CF9AE}" pid="14" name="MSIP_Label_b0d5c4f4-7a29-4385-b7a5-afbe2154ae6f_Tag">
    <vt:lpwstr>50, 3, 0, 1</vt:lpwstr>
  </property>
  <property fmtid="{D5CDD505-2E9C-101B-9397-08002B2CF9AE}" pid="15" name="ContentTypeId">
    <vt:lpwstr>0x0101008317974F467E37438C146AD78195A289</vt:lpwstr>
  </property>
</Properties>
</file>